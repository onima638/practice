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2"/>
  </p:notesMasterIdLst>
  <p:sldIdLst>
    <p:sldId id="256" r:id="rId2"/>
    <p:sldId id="312" r:id="rId3"/>
    <p:sldId id="294" r:id="rId4"/>
    <p:sldId id="313" r:id="rId5"/>
    <p:sldId id="295" r:id="rId6"/>
    <p:sldId id="296" r:id="rId7"/>
    <p:sldId id="301" r:id="rId8"/>
    <p:sldId id="306" r:id="rId9"/>
    <p:sldId id="307" r:id="rId10"/>
    <p:sldId id="31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63" d="100"/>
          <a:sy n="63" d="100"/>
        </p:scale>
        <p:origin x="6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8498978A-3D07-4CDA-A6FF-28AAFDDD6327}"/>
    <pc:docChg chg="modSld">
      <pc:chgData name="Saikat Baul" userId="dae859d7-ea3e-4a5d-83a1-d953f3940120" providerId="ADAL" clId="{8498978A-3D07-4CDA-A6FF-28AAFDDD6327}" dt="2025-03-15T07:36:36.096" v="15" actId="20577"/>
      <pc:docMkLst>
        <pc:docMk/>
      </pc:docMkLst>
      <pc:sldChg chg="modSp mod">
        <pc:chgData name="Saikat Baul" userId="dae859d7-ea3e-4a5d-83a1-d953f3940120" providerId="ADAL" clId="{8498978A-3D07-4CDA-A6FF-28AAFDDD6327}" dt="2025-03-15T07:36:36.096" v="15" actId="20577"/>
        <pc:sldMkLst>
          <pc:docMk/>
          <pc:sldMk cId="721621709" sldId="298"/>
        </pc:sldMkLst>
        <pc:spChg chg="mod">
          <ac:chgData name="Saikat Baul" userId="dae859d7-ea3e-4a5d-83a1-d953f3940120" providerId="ADAL" clId="{8498978A-3D07-4CDA-A6FF-28AAFDDD6327}" dt="2025-03-15T07:36:36.096" v="15" actId="20577"/>
          <ac:spMkLst>
            <pc:docMk/>
            <pc:sldMk cId="721621709" sldId="298"/>
            <ac:spMk id="3" creationId="{00000000-0000-0000-0000-000000000000}"/>
          </ac:spMkLst>
        </pc:spChg>
      </pc:sldChg>
    </pc:docChg>
  </pc:docChgLst>
  <pc:docChgLst>
    <pc:chgData name="Saikat Baul" userId="dae859d7-ea3e-4a5d-83a1-d953f3940120" providerId="ADAL" clId="{CAEF7DB1-8943-4AC1-8806-C24C468FC32B}"/>
    <pc:docChg chg="undo custSel modSld">
      <pc:chgData name="Saikat Baul" userId="dae859d7-ea3e-4a5d-83a1-d953f3940120" providerId="ADAL" clId="{CAEF7DB1-8943-4AC1-8806-C24C468FC32B}" dt="2025-03-01T08:38:58.499" v="50" actId="20577"/>
      <pc:docMkLst>
        <pc:docMk/>
      </pc:docMkLst>
      <pc:sldChg chg="delSp modSp mod">
        <pc:chgData name="Saikat Baul" userId="dae859d7-ea3e-4a5d-83a1-d953f3940120" providerId="ADAL" clId="{CAEF7DB1-8943-4AC1-8806-C24C468FC32B}" dt="2025-03-01T08:36:33.228" v="4" actId="1076"/>
        <pc:sldMkLst>
          <pc:docMk/>
          <pc:sldMk cId="2664565021" sldId="256"/>
        </pc:sldMkLst>
        <pc:spChg chg="mod">
          <ac:chgData name="Saikat Baul" userId="dae859d7-ea3e-4a5d-83a1-d953f3940120" providerId="ADAL" clId="{CAEF7DB1-8943-4AC1-8806-C24C468FC32B}" dt="2025-03-01T08:36:33.228" v="4" actId="1076"/>
          <ac:spMkLst>
            <pc:docMk/>
            <pc:sldMk cId="2664565021" sldId="256"/>
            <ac:spMk id="24" creationId="{C2082529-78D7-4EA7-BFF9-A1D1F62040C8}"/>
          </ac:spMkLst>
        </pc:spChg>
      </pc:sldChg>
      <pc:sldChg chg="modSp mod">
        <pc:chgData name="Saikat Baul" userId="dae859d7-ea3e-4a5d-83a1-d953f3940120" providerId="ADAL" clId="{CAEF7DB1-8943-4AC1-8806-C24C468FC32B}" dt="2025-03-01T08:38:58.499" v="50" actId="20577"/>
        <pc:sldMkLst>
          <pc:docMk/>
          <pc:sldMk cId="3411684674" sldId="293"/>
        </pc:sldMkLst>
        <pc:spChg chg="mod">
          <ac:chgData name="Saikat Baul" userId="dae859d7-ea3e-4a5d-83a1-d953f3940120" providerId="ADAL" clId="{CAEF7DB1-8943-4AC1-8806-C24C468FC32B}" dt="2025-03-01T08:38:58.499" v="50" actId="20577"/>
          <ac:spMkLst>
            <pc:docMk/>
            <pc:sldMk cId="3411684674" sldId="293"/>
            <ac:spMk id="3" creationId="{00000000-0000-0000-0000-000000000000}"/>
          </ac:spMkLst>
        </pc:spChg>
        <pc:spChg chg="mod">
          <ac:chgData name="Saikat Baul" userId="dae859d7-ea3e-4a5d-83a1-d953f3940120" providerId="ADAL" clId="{CAEF7DB1-8943-4AC1-8806-C24C468FC32B}" dt="2025-03-01T08:36:54.863" v="10" actId="122"/>
          <ac:spMkLst>
            <pc:docMk/>
            <pc:sldMk cId="3411684674" sldId="293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13.698" v="17"/>
        <pc:sldMkLst>
          <pc:docMk/>
          <pc:sldMk cId="291408106" sldId="294"/>
        </pc:sldMkLst>
        <pc:spChg chg="add mod">
          <ac:chgData name="Saikat Baul" userId="dae859d7-ea3e-4a5d-83a1-d953f3940120" providerId="ADAL" clId="{CAEF7DB1-8943-4AC1-8806-C24C468FC32B}" dt="2025-03-01T08:37:13.698" v="17"/>
          <ac:spMkLst>
            <pc:docMk/>
            <pc:sldMk cId="291408106" sldId="294"/>
            <ac:spMk id="7" creationId="{D2BEDC39-C1E3-7B8C-2792-255706C16BD8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20.848" v="19"/>
        <pc:sldMkLst>
          <pc:docMk/>
          <pc:sldMk cId="3572633632" sldId="295"/>
        </pc:sldMkLst>
        <pc:spChg chg="add mod">
          <ac:chgData name="Saikat Baul" userId="dae859d7-ea3e-4a5d-83a1-d953f3940120" providerId="ADAL" clId="{CAEF7DB1-8943-4AC1-8806-C24C468FC32B}" dt="2025-03-01T08:37:20.848" v="19"/>
          <ac:spMkLst>
            <pc:docMk/>
            <pc:sldMk cId="3572633632" sldId="295"/>
            <ac:spMk id="4" creationId="{C07B2D7A-CBEE-25EB-3781-0D99501FC71C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28.598" v="21"/>
        <pc:sldMkLst>
          <pc:docMk/>
          <pc:sldMk cId="3180374787" sldId="296"/>
        </pc:sldMkLst>
        <pc:spChg chg="add mod">
          <ac:chgData name="Saikat Baul" userId="dae859d7-ea3e-4a5d-83a1-d953f3940120" providerId="ADAL" clId="{CAEF7DB1-8943-4AC1-8806-C24C468FC32B}" dt="2025-03-01T08:37:28.598" v="21"/>
          <ac:spMkLst>
            <pc:docMk/>
            <pc:sldMk cId="3180374787" sldId="296"/>
            <ac:spMk id="4" creationId="{63510ABD-DB0E-DF52-07EB-740E2D14E3EC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39.814" v="25"/>
        <pc:sldMkLst>
          <pc:docMk/>
          <pc:sldMk cId="721621709" sldId="298"/>
        </pc:sldMkLst>
        <pc:spChg chg="add mod">
          <ac:chgData name="Saikat Baul" userId="dae859d7-ea3e-4a5d-83a1-d953f3940120" providerId="ADAL" clId="{CAEF7DB1-8943-4AC1-8806-C24C468FC32B}" dt="2025-03-01T08:37:39.814" v="25"/>
          <ac:spMkLst>
            <pc:docMk/>
            <pc:sldMk cId="721621709" sldId="298"/>
            <ac:spMk id="4" creationId="{F5DA4B15-233A-29DD-5BFC-8441CFFCD4E1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34.957" v="23"/>
        <pc:sldMkLst>
          <pc:docMk/>
          <pc:sldMk cId="1471183104" sldId="299"/>
        </pc:sldMkLst>
        <pc:spChg chg="add mod">
          <ac:chgData name="Saikat Baul" userId="dae859d7-ea3e-4a5d-83a1-d953f3940120" providerId="ADAL" clId="{CAEF7DB1-8943-4AC1-8806-C24C468FC32B}" dt="2025-03-01T08:37:34.957" v="23"/>
          <ac:spMkLst>
            <pc:docMk/>
            <pc:sldMk cId="1471183104" sldId="299"/>
            <ac:spMk id="4" creationId="{8D092BAC-5BD5-6FA5-4270-AA052E9739FA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44.980" v="27"/>
        <pc:sldMkLst>
          <pc:docMk/>
          <pc:sldMk cId="1434796336" sldId="300"/>
        </pc:sldMkLst>
        <pc:spChg chg="add mod">
          <ac:chgData name="Saikat Baul" userId="dae859d7-ea3e-4a5d-83a1-d953f3940120" providerId="ADAL" clId="{CAEF7DB1-8943-4AC1-8806-C24C468FC32B}" dt="2025-03-01T08:37:44.980" v="27"/>
          <ac:spMkLst>
            <pc:docMk/>
            <pc:sldMk cId="1434796336" sldId="300"/>
            <ac:spMk id="4" creationId="{D08B636A-0CB5-F3C2-B63A-1B9237AD3761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50.243" v="29"/>
        <pc:sldMkLst>
          <pc:docMk/>
          <pc:sldMk cId="3527609015" sldId="301"/>
        </pc:sldMkLst>
        <pc:spChg chg="add mod">
          <ac:chgData name="Saikat Baul" userId="dae859d7-ea3e-4a5d-83a1-d953f3940120" providerId="ADAL" clId="{CAEF7DB1-8943-4AC1-8806-C24C468FC32B}" dt="2025-03-01T08:37:50.243" v="29"/>
          <ac:spMkLst>
            <pc:docMk/>
            <pc:sldMk cId="3527609015" sldId="301"/>
            <ac:spMk id="3" creationId="{BEC75998-0B41-0AE9-551D-D54E5715142B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57.298" v="31"/>
        <pc:sldMkLst>
          <pc:docMk/>
          <pc:sldMk cId="2493567879" sldId="302"/>
        </pc:sldMkLst>
        <pc:spChg chg="add mod">
          <ac:chgData name="Saikat Baul" userId="dae859d7-ea3e-4a5d-83a1-d953f3940120" providerId="ADAL" clId="{CAEF7DB1-8943-4AC1-8806-C24C468FC32B}" dt="2025-03-01T08:37:57.298" v="31"/>
          <ac:spMkLst>
            <pc:docMk/>
            <pc:sldMk cId="2493567879" sldId="302"/>
            <ac:spMk id="4" creationId="{5CE0013D-DEDE-2C8C-836B-C2523BE1D182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8:02.555" v="33"/>
        <pc:sldMkLst>
          <pc:docMk/>
          <pc:sldMk cId="278277641" sldId="304"/>
        </pc:sldMkLst>
        <pc:spChg chg="add mod">
          <ac:chgData name="Saikat Baul" userId="dae859d7-ea3e-4a5d-83a1-d953f3940120" providerId="ADAL" clId="{CAEF7DB1-8943-4AC1-8806-C24C468FC32B}" dt="2025-03-01T08:38:02.555" v="33"/>
          <ac:spMkLst>
            <pc:docMk/>
            <pc:sldMk cId="278277641" sldId="304"/>
            <ac:spMk id="4" creationId="{B59A2C31-FE4F-FD17-CB5D-6D1724075AD3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8:07.624" v="35"/>
        <pc:sldMkLst>
          <pc:docMk/>
          <pc:sldMk cId="3626468180" sldId="305"/>
        </pc:sldMkLst>
        <pc:spChg chg="add mod">
          <ac:chgData name="Saikat Baul" userId="dae859d7-ea3e-4a5d-83a1-d953f3940120" providerId="ADAL" clId="{CAEF7DB1-8943-4AC1-8806-C24C468FC32B}" dt="2025-03-01T08:38:07.624" v="35"/>
          <ac:spMkLst>
            <pc:docMk/>
            <pc:sldMk cId="3626468180" sldId="305"/>
            <ac:spMk id="4" creationId="{EEE3E51F-F0B4-D160-AD98-98050DC522EB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8:12.896" v="37"/>
        <pc:sldMkLst>
          <pc:docMk/>
          <pc:sldMk cId="3234957445" sldId="306"/>
        </pc:sldMkLst>
        <pc:spChg chg="add mod">
          <ac:chgData name="Saikat Baul" userId="dae859d7-ea3e-4a5d-83a1-d953f3940120" providerId="ADAL" clId="{CAEF7DB1-8943-4AC1-8806-C24C468FC32B}" dt="2025-03-01T08:38:12.896" v="37"/>
          <ac:spMkLst>
            <pc:docMk/>
            <pc:sldMk cId="3234957445" sldId="306"/>
            <ac:spMk id="4" creationId="{ACC1759B-8ED8-6864-1BA5-3B0DC0869E24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8:17.889" v="39"/>
        <pc:sldMkLst>
          <pc:docMk/>
          <pc:sldMk cId="665948692" sldId="307"/>
        </pc:sldMkLst>
        <pc:spChg chg="add mod">
          <ac:chgData name="Saikat Baul" userId="dae859d7-ea3e-4a5d-83a1-d953f3940120" providerId="ADAL" clId="{CAEF7DB1-8943-4AC1-8806-C24C468FC32B}" dt="2025-03-01T08:38:17.889" v="39"/>
          <ac:spMkLst>
            <pc:docMk/>
            <pc:sldMk cId="665948692" sldId="307"/>
            <ac:spMk id="4" creationId="{830E328A-3046-A1A4-6F7F-41053FB04F30}"/>
          </ac:spMkLst>
        </pc:spChg>
      </pc:sldChg>
      <pc:sldChg chg="addSp modSp">
        <pc:chgData name="Saikat Baul" userId="dae859d7-ea3e-4a5d-83a1-d953f3940120" providerId="ADAL" clId="{CAEF7DB1-8943-4AC1-8806-C24C468FC32B}" dt="2025-03-01T08:38:21.505" v="40"/>
        <pc:sldMkLst>
          <pc:docMk/>
          <pc:sldMk cId="64039236" sldId="311"/>
        </pc:sldMkLst>
        <pc:spChg chg="add mod">
          <ac:chgData name="Saikat Baul" userId="dae859d7-ea3e-4a5d-83a1-d953f3940120" providerId="ADAL" clId="{CAEF7DB1-8943-4AC1-8806-C24C468FC32B}" dt="2025-03-01T08:38:21.505" v="40"/>
          <ac:spMkLst>
            <pc:docMk/>
            <pc:sldMk cId="64039236" sldId="311"/>
            <ac:spMk id="4" creationId="{528DA654-9A91-4CCA-8E45-E5168893F2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22/02/2026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2/22/2026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2/22/2026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ubayer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cholar.google.com/citations?view_op=list_works&amp;hl=en&amp;hl=en&amp;user=WXtW1XMAAAAJ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4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agile software development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8956721" y="3752174"/>
            <a:ext cx="3074412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rgbClr val="7030A0"/>
                </a:solidFill>
              </a:rPr>
              <a:t>Jubayer Ahamed</a:t>
            </a:r>
          </a:p>
          <a:p>
            <a:r>
              <a:rPr lang="en-US" sz="24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400" cap="none" dirty="0">
                <a:solidFill>
                  <a:schemeClr val="tx1"/>
                </a:solidFill>
                <a:hlinkClick r:id="rId3"/>
              </a:rPr>
              <a:t>jubayer@aiub.edu</a:t>
            </a:r>
            <a:r>
              <a:rPr lang="en-US" sz="2400" cap="none" dirty="0">
                <a:solidFill>
                  <a:schemeClr val="tx1"/>
                </a:solidFill>
              </a:rPr>
              <a:t> </a:t>
            </a:r>
            <a:endParaRPr lang="en-US" sz="28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" name="Picture 2" descr="Google Scholar Logo PNG Vector (AI, PDF ...">
            <a:extLst>
              <a:ext uri="{FF2B5EF4-FFF2-40B4-BE49-F238E27FC236}">
                <a16:creationId xmlns:a16="http://schemas.microsoft.com/office/drawing/2014/main" id="{9DF9BBB9-7929-5616-2F29-917F7F01E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830" y="4911854"/>
            <a:ext cx="1946146" cy="1946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59B6BB-F860-CF3D-9656-9FC51B0FBE09}"/>
              </a:ext>
            </a:extLst>
          </p:cNvPr>
          <p:cNvSpPr txBox="1"/>
          <p:nvPr/>
        </p:nvSpPr>
        <p:spPr>
          <a:xfrm>
            <a:off x="6518797" y="5654786"/>
            <a:ext cx="5512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https://scholar.google.com/citations?view_op=list_works&amp;hl=en&amp;hl=en&amp;user=WXtW1XMAAAAJ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AEA6F-6557-2028-7F67-B84EF553A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A10F-01E2-1781-9B49-36D464B5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What  is  an  agile  method?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CC354-A5FB-5796-91DB-84788870D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9097"/>
            <a:ext cx="10914122" cy="363002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Agile methods are considered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Lightweight (do not concentrate on the whole software development at once)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People-based rather than Plan-based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Several agile methods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  </a:t>
            </a: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No single agile method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Different agile methods can be combined in software development (Hybrid)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691B349-AB37-6538-1DC9-CD66C4ECFE7B}"/>
              </a:ext>
            </a:extLst>
          </p:cNvPr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4AD4AF5-6752-2C14-A830-2D9A2840F4A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810648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141" y="2006777"/>
            <a:ext cx="11288036" cy="424610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Subset of iterative and evolutionary methods </a:t>
            </a:r>
          </a:p>
          <a:p>
            <a:pPr>
              <a:buNone/>
            </a:pPr>
            <a:r>
              <a:rPr lang="en-US" sz="2200" b="1" u="sng" dirty="0">
                <a:latin typeface="+mj-lt"/>
                <a:cs typeface="Calibri" pitchFamily="34" charset="0"/>
              </a:rPr>
              <a:t>Iterative Products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Each iteration is a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self-contained, mini-project </a:t>
            </a:r>
            <a:r>
              <a:rPr lang="en-US" sz="2200" dirty="0">
                <a:latin typeface="+mj-lt"/>
                <a:cs typeface="Calibri" pitchFamily="34" charset="0"/>
              </a:rPr>
              <a:t>with activities that span requirements analysis, design, implementation, and test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Leads to an iteration release (which may be only an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internal release</a:t>
            </a:r>
            <a:r>
              <a:rPr lang="en-US" sz="2200" dirty="0">
                <a:latin typeface="+mj-lt"/>
                <a:cs typeface="Calibri" pitchFamily="34" charset="0"/>
              </a:rPr>
              <a:t>) that integrates all software across the team and is a growing and evolving subset of the final system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The purpose of having short iterations is so that feedback from iterations N and earlier, </a:t>
            </a:r>
            <a:br>
              <a:rPr lang="en-US" sz="2200" dirty="0">
                <a:latin typeface="+mj-lt"/>
                <a:cs typeface="Calibri" pitchFamily="34" charset="0"/>
              </a:rPr>
            </a:br>
            <a:r>
              <a:rPr lang="en-US" sz="2200" dirty="0">
                <a:latin typeface="+mj-lt"/>
                <a:cs typeface="Calibri" pitchFamily="34" charset="0"/>
              </a:rPr>
              <a:t>and any other new information, can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lead to refinement </a:t>
            </a:r>
            <a:r>
              <a:rPr lang="en-US" sz="2200" dirty="0">
                <a:latin typeface="+mj-lt"/>
                <a:cs typeface="Calibri" pitchFamily="34" charset="0"/>
              </a:rPr>
              <a:t>and requirements adaptation for iteration N + 1</a:t>
            </a: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2BEDC39-C1E3-7B8C-2792-255706C16BD8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91408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Rectangle 2060">
            <a:extLst>
              <a:ext uri="{FF2B5EF4-FFF2-40B4-BE49-F238E27FC236}">
                <a16:creationId xmlns:a16="http://schemas.microsoft.com/office/drawing/2014/main" id="{1E5E4503-CC62-4DA9-9121-0A157199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D8D61A1B-3C4C-4F0E-965F-15837624C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00E56243-9701-44E8-8A92-319433305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7" name="Rectangle 2066">
            <a:extLst>
              <a:ext uri="{FF2B5EF4-FFF2-40B4-BE49-F238E27FC236}">
                <a16:creationId xmlns:a16="http://schemas.microsoft.com/office/drawing/2014/main" id="{5B1F1915-E076-48EB-BB4A-EE9808EB4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69" name="Rectangle 2068">
            <a:extLst>
              <a:ext uri="{FF2B5EF4-FFF2-40B4-BE49-F238E27FC236}">
                <a16:creationId xmlns:a16="http://schemas.microsoft.com/office/drawing/2014/main" id="{C946306D-5ADD-463A-949A-DEEBA39D7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6" name="Picture 8" descr="What are Evolutionary Process Models? - GeeksforGeeks">
            <a:extLst>
              <a:ext uri="{FF2B5EF4-FFF2-40B4-BE49-F238E27FC236}">
                <a16:creationId xmlns:a16="http://schemas.microsoft.com/office/drawing/2014/main" id="{B8453481-5DB0-C574-A593-99A7D1073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" r="1" b="1"/>
          <a:stretch>
            <a:fillRect/>
          </a:stretch>
        </p:blipFill>
        <p:spPr bwMode="auto">
          <a:xfrm>
            <a:off x="446534" y="599724"/>
            <a:ext cx="5614416" cy="3547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terative Development: A Starter's Guide">
            <a:extLst>
              <a:ext uri="{FF2B5EF4-FFF2-40B4-BE49-F238E27FC236}">
                <a16:creationId xmlns:a16="http://schemas.microsoft.com/office/drawing/2014/main" id="{F0D47766-450C-7821-6D98-511CEAFEFE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50" r="3" b="7979"/>
          <a:stretch>
            <a:fillRect/>
          </a:stretch>
        </p:blipFill>
        <p:spPr bwMode="auto">
          <a:xfrm>
            <a:off x="6116658" y="599724"/>
            <a:ext cx="5626608" cy="3547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1" name="Rectangle 2070">
            <a:extLst>
              <a:ext uri="{FF2B5EF4-FFF2-40B4-BE49-F238E27FC236}">
                <a16:creationId xmlns:a16="http://schemas.microsoft.com/office/drawing/2014/main" id="{9180D5DB-9658-40A6-A418-7C6998222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199467"/>
            <a:ext cx="11296733" cy="21910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FAA875-7D2C-82DC-3D1C-ABB68181E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120" y="4319752"/>
            <a:ext cx="10947620" cy="115595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Evolutionary + Iterative Model = Agile</a:t>
            </a:r>
          </a:p>
        </p:txBody>
      </p:sp>
      <p:grpSp>
        <p:nvGrpSpPr>
          <p:cNvPr id="2073" name="Group 2072">
            <a:extLst>
              <a:ext uri="{FF2B5EF4-FFF2-40B4-BE49-F238E27FC236}">
                <a16:creationId xmlns:a16="http://schemas.microsoft.com/office/drawing/2014/main" id="{632810AB-1783-4EC2-BA98-A04B50D03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074" name="Rectangle 2073">
              <a:extLst>
                <a:ext uri="{FF2B5EF4-FFF2-40B4-BE49-F238E27FC236}">
                  <a16:creationId xmlns:a16="http://schemas.microsoft.com/office/drawing/2014/main" id="{4F09CE43-7546-451A-9418-9977AE731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75" name="Rectangle 2074">
              <a:extLst>
                <a:ext uri="{FF2B5EF4-FFF2-40B4-BE49-F238E27FC236}">
                  <a16:creationId xmlns:a16="http://schemas.microsoft.com/office/drawing/2014/main" id="{92C17367-5B48-4C71-825E-C1A8CFEC8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76" name="Rectangle 2075">
              <a:extLst>
                <a:ext uri="{FF2B5EF4-FFF2-40B4-BE49-F238E27FC236}">
                  <a16:creationId xmlns:a16="http://schemas.microsoft.com/office/drawing/2014/main" id="{86EA071A-7654-4C9E-AA2E-203E15234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F0B71-DBB6-AEA1-CD51-7EFC006B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8232"/>
            <a:ext cx="101644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D57F1E4F-1CFF-5643-939E-217C01CDF565}" type="slidenum">
              <a:rPr lang="en-US" smtClean="0">
                <a:solidFill>
                  <a:schemeClr val="accent1">
                    <a:lumMod val="75000"/>
                    <a:lumOff val="25000"/>
                  </a:schemeClr>
                </a:solidFill>
              </a:rPr>
              <a:pPr defTabSz="914400">
                <a:spcAft>
                  <a:spcPts val="600"/>
                </a:spcAft>
              </a:pPr>
              <a:t>4</a:t>
            </a:fld>
            <a:endParaRPr lang="en-US">
              <a:solidFill>
                <a:schemeClr val="accent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97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methods  vs.  Past  Iterative  methods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939" y="2275207"/>
            <a:ext cx="10914122" cy="339672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 A key difference between agile methods and past iterative methods is the length of each  </a:t>
            </a:r>
            <a:br>
              <a:rPr lang="en-US" sz="2200" dirty="0">
                <a:latin typeface="+mj-lt"/>
                <a:cs typeface="Calibri" pitchFamily="34" charset="0"/>
              </a:rPr>
            </a:br>
            <a:r>
              <a:rPr lang="en-US" sz="2200" dirty="0">
                <a:latin typeface="+mj-lt"/>
                <a:cs typeface="Calibri" pitchFamily="34" charset="0"/>
              </a:rPr>
              <a:t> iteration.</a:t>
            </a:r>
            <a:br>
              <a:rPr lang="en-US" sz="2200" dirty="0">
                <a:latin typeface="+mj-lt"/>
                <a:cs typeface="Calibri" pitchFamily="34" charset="0"/>
              </a:rPr>
            </a:br>
            <a:endParaRPr lang="en-US" sz="2200" dirty="0">
              <a:latin typeface="+mj-lt"/>
              <a:cs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In the past, iterations might have been three or six months long.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In agile methods, iteration lengths vary between one to four weeks and intentionally</a:t>
            </a:r>
            <a:b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</a:b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do not exceed 30 days.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Research has shown that shorter iterations have lower complexity and risk, better   feedback, and higher productivity and success rates.</a:t>
            </a:r>
          </a:p>
          <a:p>
            <a:pPr>
              <a:buFont typeface="Wingdings" pitchFamily="2" charset="2"/>
              <a:buChar char="q"/>
            </a:pP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07B2D7A-CBEE-25EB-3781-0D99501FC71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572633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Calibri" pitchFamily="34" charset="0"/>
              </a:rPr>
              <a:t>Timebox</a:t>
            </a:r>
            <a:r>
              <a:rPr lang="en-US" dirty="0">
                <a:cs typeface="Calibri" pitchFamily="34" charset="0"/>
              </a:rPr>
              <a:t>  &amp;  scope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569" y="2116182"/>
            <a:ext cx="10914122" cy="241662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 The pre-determined iteration length serves as a </a:t>
            </a:r>
            <a:r>
              <a:rPr lang="en-US" sz="2200" dirty="0" err="1">
                <a:latin typeface="+mj-lt"/>
                <a:cs typeface="Calibri" pitchFamily="34" charset="0"/>
              </a:rPr>
              <a:t>timebox</a:t>
            </a:r>
            <a:r>
              <a:rPr lang="en-US" sz="2200" dirty="0">
                <a:latin typeface="+mj-lt"/>
                <a:cs typeface="Calibri" pitchFamily="34" charset="0"/>
              </a:rPr>
              <a:t> for the team. 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 Scope (set of tasks) is chosen for each iteration to fill the iteration length. 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 Rather than increase the iteration length to fit the chosen scope, </a:t>
            </a:r>
            <a:b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</a:b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 the scope is reduced to fit the iteration length.</a:t>
            </a:r>
          </a:p>
          <a:p>
            <a:pPr>
              <a:lnSpc>
                <a:spcPct val="80000"/>
              </a:lnSpc>
              <a:buFont typeface="Wingdings" pitchFamily="2" charset="2"/>
              <a:buChar char="q"/>
            </a:pP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510ABD-DB0E-DF52-07EB-740E2D14E3E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180374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vs.  Plan  driven  process</a:t>
            </a:r>
            <a:endParaRPr lang="en-GB" dirty="0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51652" cy="988551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6609" y="2102394"/>
          <a:ext cx="10665824" cy="4075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2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2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0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</a:rPr>
                        <a:t>Agile Process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</a:rPr>
                        <a:t>Plan Driven Process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j-lt"/>
                          <a:cs typeface="Calibri" pitchFamily="34" charset="0"/>
                        </a:rPr>
                        <a:t>Small products and teams; scalability limited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j-lt"/>
                          <a:cs typeface="Calibri" pitchFamily="34" charset="0"/>
                        </a:rPr>
                        <a:t>Large products and teams; hard to scale down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Inappropriate</a:t>
                      </a:r>
                      <a:r>
                        <a:rPr lang="en-US" sz="2000" b="0" baseline="0" dirty="0">
                          <a:latin typeface="+mj-lt"/>
                          <a:cs typeface="Calibri" pitchFamily="34" charset="0"/>
                        </a:rPr>
                        <a:t> for </a:t>
                      </a: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safety-critical products because of frequent changes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Handles highly critical products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Good for dynamic, but expensive for stable environments.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Good for stable, but expensive for dynamic environments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Require experienced Agile personnel throughout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Require experienced personnel only at start if stable environment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9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Personnel succeed on freedom and chaos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Personnel succeed on structure and order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75998-0B41-0AE9-551D-D54E5715142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527609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Human  factors  in  agile  development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696" y="1985555"/>
            <a:ext cx="10914122" cy="3526971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Skill / Capability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Common focus 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Collaboration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Decision-making ability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Fuzzy problem-solving ability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Mutual trust and respect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Self-organization</a:t>
            </a:r>
            <a:endParaRPr lang="en-US" sz="2000" dirty="0">
              <a:solidFill>
                <a:srgbClr val="002060"/>
              </a:solidFill>
              <a:latin typeface="+mj-lt"/>
              <a:cs typeface="Calibri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12463" cy="1158367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C1759B-8ED8-6864-1BA5-3B0DC0869E24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234957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methods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696" y="1985555"/>
            <a:ext cx="10914122" cy="352697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highlight>
                  <a:srgbClr val="00FFFF"/>
                </a:highlight>
                <a:latin typeface="+mj-lt"/>
                <a:cs typeface="Calibri" pitchFamily="34" charset="0"/>
              </a:rPr>
              <a:t> Extreme Programming (XP)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highlight>
                  <a:srgbClr val="00FFFF"/>
                </a:highlight>
                <a:latin typeface="+mj-lt"/>
                <a:cs typeface="Calibri" pitchFamily="34" charset="0"/>
              </a:rPr>
              <a:t> Scrum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highlight>
                  <a:srgbClr val="00FFFF"/>
                </a:highlight>
                <a:latin typeface="+mj-lt"/>
                <a:cs typeface="Calibri" pitchFamily="34" charset="0"/>
              </a:rPr>
              <a:t> Dynamic Systems Development Method (DSDM)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Feature-Driven Development (FDD)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Crystal Methods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Lean Development (LD)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Adaptive Software Development (ASD)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12463" cy="1158367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0E328A-3046-A1A4-6F7F-41053FB04F3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665948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- 12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8DA654-9A91-4CCA-8E45-E5168893F26E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647</Words>
  <Application>Microsoft Office PowerPoint</Application>
  <PresentationFormat>Widescreen</PresentationFormat>
  <Paragraphs>83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ＭＳ Ｐゴシック</vt:lpstr>
      <vt:lpstr>Calibri</vt:lpstr>
      <vt:lpstr>Gill Sans MT</vt:lpstr>
      <vt:lpstr>Wingdings</vt:lpstr>
      <vt:lpstr>Wingdings 2</vt:lpstr>
      <vt:lpstr>Dividend</vt:lpstr>
      <vt:lpstr>PowerPoint Presentation</vt:lpstr>
      <vt:lpstr>What  is  an  agile  method?</vt:lpstr>
      <vt:lpstr>Agile  Model</vt:lpstr>
      <vt:lpstr>Evolutionary + Iterative Model = Agile</vt:lpstr>
      <vt:lpstr>Agile  methods  vs.  Past  Iterative  methods</vt:lpstr>
      <vt:lpstr>Timebox  &amp;  scope</vt:lpstr>
      <vt:lpstr>Agile  vs.  Plan  driven  process</vt:lpstr>
      <vt:lpstr>Human  factors  in  agile  development</vt:lpstr>
      <vt:lpstr>Agile  methods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Ch.03 - Agile Software Development</dc:title>
  <dc:subject>Software Engineering</dc:subject>
  <dc:creator>M. Mahmudul Hasan</dc:creator>
  <cp:lastModifiedBy>Jubayer Ahamed</cp:lastModifiedBy>
  <cp:revision>39</cp:revision>
  <dcterms:created xsi:type="dcterms:W3CDTF">2019-05-13T08:37:20Z</dcterms:created>
  <dcterms:modified xsi:type="dcterms:W3CDTF">2026-02-22T07:27:52Z</dcterms:modified>
</cp:coreProperties>
</file>